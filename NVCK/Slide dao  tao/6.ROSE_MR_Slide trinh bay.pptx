
<file path=[Content_Types].xml><?xml version="1.0" encoding="utf-8"?>
<Types xmlns="http://schemas.openxmlformats.org/package/2006/content-types">
  <Default Extension="vsd" ContentType="application/vnd.visio"/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notesMasterIdLst>
    <p:notesMasterId r:id="rId16"/>
  </p:notesMasterIdLst>
  <p:handoutMasterIdLst>
    <p:handoutMasterId r:id="rId17"/>
  </p:handoutMasterIdLst>
  <p:sldIdLst>
    <p:sldId id="310" r:id="rId2"/>
    <p:sldId id="351" r:id="rId3"/>
    <p:sldId id="349" r:id="rId4"/>
    <p:sldId id="360" r:id="rId5"/>
    <p:sldId id="335" r:id="rId6"/>
    <p:sldId id="336" r:id="rId7"/>
    <p:sldId id="337" r:id="rId8"/>
    <p:sldId id="338" r:id="rId9"/>
    <p:sldId id="352" r:id="rId10"/>
    <p:sldId id="353" r:id="rId11"/>
    <p:sldId id="354" r:id="rId12"/>
    <p:sldId id="358" r:id="rId13"/>
    <p:sldId id="359" r:id="rId14"/>
    <p:sldId id="355" r:id="rId15"/>
  </p:sldIdLst>
  <p:sldSz cx="9144000" cy="6858000" type="screen4x3"/>
  <p:notesSz cx="68580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36699"/>
    <a:srgbClr val="009999"/>
    <a:srgbClr val="CCFFCC"/>
    <a:srgbClr val="CCECFF"/>
    <a:srgbClr val="990000"/>
    <a:srgbClr val="990033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60" autoAdjust="0"/>
    <p:restoredTop sz="94275" autoAdjust="0"/>
  </p:normalViewPr>
  <p:slideViewPr>
    <p:cSldViewPr>
      <p:cViewPr varScale="1">
        <p:scale>
          <a:sx n="102" d="100"/>
          <a:sy n="102" d="100"/>
        </p:scale>
        <p:origin x="35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-2604" y="-90"/>
      </p:cViewPr>
      <p:guideLst>
        <p:guide orient="horz" pos="2928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831263"/>
            <a:ext cx="2971800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3648B158-3334-45C4-9794-79FA69D1D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24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06488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16425"/>
            <a:ext cx="548640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29675"/>
            <a:ext cx="2971800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8215732-BA96-4FF5-85E4-9ACF338460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598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/>
            <a:fld id="{E112254B-4211-468C-B987-0F5672EEE6FD}" type="slidenum">
              <a:rPr lang="en-US" altLang="en-US" sz="1200" smtClean="0"/>
              <a:pPr eaLnBrk="1" hangingPunct="1"/>
              <a:t>1</a:t>
            </a:fld>
            <a:endParaRPr lang="en-US" altLang="en-US" sz="1200" smtClean="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vi-VN" altLang="en-US" smtClean="0"/>
          </a:p>
        </p:txBody>
      </p:sp>
    </p:spTree>
    <p:extLst>
      <p:ext uri="{BB962C8B-B14F-4D97-AF65-F5344CB8AC3E}">
        <p14:creationId xmlns:p14="http://schemas.microsoft.com/office/powerpoint/2010/main" val="12596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hỗ dành sẵn cho Hình ảnh của Bản chiế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Chỗ dành sẵn cho Ghi chú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  <p:sp>
        <p:nvSpPr>
          <p:cNvPr id="4" name="Chỗ dành sẵn cho Số hiệu Bản chiế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3657B17-F3F9-4BE8-A008-D557C90EE1A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13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vi-VN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8F51AEE-3AF6-4A8A-8CDD-50600B2B190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82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hỗ dành sẵn cho Hình ảnh của Bản chiế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507" name="Chỗ dành sẵn cho Ghi chú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  <p:sp>
        <p:nvSpPr>
          <p:cNvPr id="4" name="Chỗ dành sẵn cho Số hiệu Bản chiế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5100DB-253F-410B-9216-FC73E5E4493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816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18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10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2790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8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193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05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023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142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51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22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58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43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1207027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 smtClean="0"/>
          </a:p>
        </p:txBody>
      </p:sp>
    </p:spTree>
    <p:extLst>
      <p:ext uri="{BB962C8B-B14F-4D97-AF65-F5344CB8AC3E}">
        <p14:creationId xmlns:p14="http://schemas.microsoft.com/office/powerpoint/2010/main" val="269669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 userDrawn="1"/>
        </p:nvSpPr>
        <p:spPr bwMode="auto">
          <a:xfrm>
            <a:off x="85725" y="6324600"/>
            <a:ext cx="8294688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27" name="Picture 3" descr="FSS Logo without slogan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95263"/>
            <a:ext cx="1598613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Line 4"/>
          <p:cNvSpPr>
            <a:spLocks noChangeShapeType="1"/>
          </p:cNvSpPr>
          <p:nvPr userDrawn="1"/>
        </p:nvSpPr>
        <p:spPr bwMode="auto">
          <a:xfrm>
            <a:off x="123825" y="771525"/>
            <a:ext cx="89916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9" name="Text Box 5"/>
          <p:cNvSpPr txBox="1">
            <a:spLocks noChangeArrowheads="1"/>
          </p:cNvSpPr>
          <p:nvPr userDrawn="1"/>
        </p:nvSpPr>
        <p:spPr bwMode="auto">
          <a:xfrm>
            <a:off x="1143000" y="6537325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000" smtClean="0">
                <a:solidFill>
                  <a:srgbClr val="000080"/>
                </a:solidFill>
                <a:latin typeface="Arial" pitchFamily="34" charset="0"/>
              </a:rPr>
              <a:t>www.fssc.com.vn</a:t>
            </a:r>
          </a:p>
        </p:txBody>
      </p:sp>
      <p:sp>
        <p:nvSpPr>
          <p:cNvPr id="1030" name="Text Box 6"/>
          <p:cNvSpPr txBox="1">
            <a:spLocks noChangeArrowheads="1"/>
          </p:cNvSpPr>
          <p:nvPr userDrawn="1"/>
        </p:nvSpPr>
        <p:spPr bwMode="auto">
          <a:xfrm>
            <a:off x="6858000" y="6537325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sz="1000" smtClean="0">
                <a:solidFill>
                  <a:srgbClr val="000080"/>
                </a:solidFill>
                <a:latin typeface="Arial" pitchFamily="34" charset="0"/>
              </a:rPr>
              <a:t>Page </a:t>
            </a:r>
            <a:fld id="{136C77C7-00F2-4D21-AC2D-F25CFE6978C4}" type="slidenum">
              <a:rPr lang="en-US" sz="1000" smtClean="0">
                <a:solidFill>
                  <a:srgbClr val="000080"/>
                </a:solidFill>
                <a:latin typeface="Arial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sz="1000" smtClean="0">
              <a:solidFill>
                <a:srgbClr val="000080"/>
              </a:solidFill>
              <a:latin typeface="Arial" pitchFamily="34" charset="0"/>
            </a:endParaRPr>
          </a:p>
        </p:txBody>
      </p:sp>
      <p:grpSp>
        <p:nvGrpSpPr>
          <p:cNvPr id="1031" name="Group 7"/>
          <p:cNvGrpSpPr>
            <a:grpSpLocks/>
          </p:cNvGrpSpPr>
          <p:nvPr userDrawn="1"/>
        </p:nvGrpSpPr>
        <p:grpSpPr bwMode="auto">
          <a:xfrm>
            <a:off x="8142288" y="6035675"/>
            <a:ext cx="944562" cy="750888"/>
            <a:chOff x="129" y="3476"/>
            <a:chExt cx="696" cy="565"/>
          </a:xfrm>
        </p:grpSpPr>
        <p:grpSp>
          <p:nvGrpSpPr>
            <p:cNvPr id="1032" name="Group 8"/>
            <p:cNvGrpSpPr>
              <a:grpSpLocks/>
            </p:cNvGrpSpPr>
            <p:nvPr/>
          </p:nvGrpSpPr>
          <p:grpSpPr bwMode="auto">
            <a:xfrm>
              <a:off x="304" y="3476"/>
              <a:ext cx="430" cy="299"/>
              <a:chOff x="720" y="336"/>
              <a:chExt cx="624" cy="432"/>
            </a:xfrm>
          </p:grpSpPr>
          <p:sp>
            <p:nvSpPr>
              <p:cNvPr id="1037" name="Rectangle 9"/>
              <p:cNvSpPr>
                <a:spLocks noChangeArrowheads="1"/>
              </p:cNvSpPr>
              <p:nvPr/>
            </p:nvSpPr>
            <p:spPr bwMode="auto">
              <a:xfrm>
                <a:off x="722" y="336"/>
                <a:ext cx="382" cy="43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en-US" smtClean="0"/>
              </a:p>
            </p:txBody>
          </p:sp>
          <p:sp>
            <p:nvSpPr>
              <p:cNvPr id="1038" name="Rectangle 10"/>
              <p:cNvSpPr>
                <a:spLocks noChangeArrowheads="1"/>
              </p:cNvSpPr>
              <p:nvPr/>
            </p:nvSpPr>
            <p:spPr bwMode="auto">
              <a:xfrm>
                <a:off x="1057" y="336"/>
                <a:ext cx="287" cy="430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en-US" smtClean="0"/>
              </a:p>
            </p:txBody>
          </p:sp>
        </p:grpSp>
        <p:grpSp>
          <p:nvGrpSpPr>
            <p:cNvPr id="1033" name="Group 11"/>
            <p:cNvGrpSpPr>
              <a:grpSpLocks/>
            </p:cNvGrpSpPr>
            <p:nvPr/>
          </p:nvGrpSpPr>
          <p:grpSpPr bwMode="auto">
            <a:xfrm>
              <a:off x="379" y="3742"/>
              <a:ext cx="446" cy="299"/>
              <a:chOff x="912" y="2640"/>
              <a:chExt cx="672" cy="432"/>
            </a:xfrm>
          </p:grpSpPr>
          <p:sp>
            <p:nvSpPr>
              <p:cNvPr id="1035" name="Rectangle 12"/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3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en-US" smtClean="0"/>
              </a:p>
            </p:txBody>
          </p:sp>
          <p:sp>
            <p:nvSpPr>
              <p:cNvPr id="1036" name="Rectangle 13"/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30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itchFamily="18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vi-VN" altLang="en-US" smtClean="0"/>
              </a:p>
            </p:txBody>
          </p:sp>
        </p:grpSp>
        <p:sp>
          <p:nvSpPr>
            <p:cNvPr id="1034" name="Rectangle 14"/>
            <p:cNvSpPr>
              <a:spLocks noChangeArrowheads="1"/>
            </p:cNvSpPr>
            <p:nvPr/>
          </p:nvSpPr>
          <p:spPr bwMode="auto">
            <a:xfrm>
              <a:off x="129" y="3696"/>
              <a:ext cx="338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charset="0"/>
                </a:defRPr>
              </a:lvl9pPr>
            </a:lstStyle>
            <a:p>
              <a:pPr eaLnBrk="1" hangingPunct="1">
                <a:defRPr/>
              </a:pPr>
              <a:endParaRPr lang="vi-VN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pitchFamily="34" charset="0"/>
          <a:cs typeface="Arial" pitchFamily="34" charset="0"/>
        </a:defRPr>
      </a:lvl9pPr>
    </p:titleStyle>
    <p:bodyStyle>
      <a:lvl1pPr marL="180975" indent="-180975" algn="l" rtl="0" eaLnBrk="0" fontAlgn="base" hangingPunct="0">
        <a:spcBef>
          <a:spcPct val="0"/>
        </a:spcBef>
        <a:spcAft>
          <a:spcPct val="4000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61938" algn="l" rtl="0" eaLnBrk="0" fontAlgn="base" hangingPunct="0">
        <a:spcBef>
          <a:spcPct val="0"/>
        </a:spcBef>
        <a:spcAft>
          <a:spcPct val="4000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720725" indent="-274638" algn="l" rtl="0" eaLnBrk="0" fontAlgn="base" hangingPunct="0">
        <a:spcBef>
          <a:spcPct val="0"/>
        </a:spcBef>
        <a:spcAft>
          <a:spcPct val="4000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987425" indent="-265113" algn="l" rtl="0" eaLnBrk="0" fontAlgn="base" hangingPunct="0">
        <a:spcBef>
          <a:spcPct val="0"/>
        </a:spcBef>
        <a:spcAft>
          <a:spcPct val="4000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1254125" indent="-265113" algn="l" rtl="0" eaLnBrk="0" fontAlgn="base" hangingPunct="0">
        <a:spcBef>
          <a:spcPct val="0"/>
        </a:spcBef>
        <a:spcAft>
          <a:spcPct val="4000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17113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1685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6257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0829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1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Microsoft_Visio_2003-2010_Drawing2.vsd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Visio_2003-2010_Drawing3.vsd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3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Line 2070"/>
          <p:cNvSpPr>
            <a:spLocks noChangeShapeType="1"/>
          </p:cNvSpPr>
          <p:nvPr/>
        </p:nvSpPr>
        <p:spPr bwMode="auto">
          <a:xfrm>
            <a:off x="0" y="762000"/>
            <a:ext cx="914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52" name="Text Box 2071"/>
          <p:cNvSpPr txBox="1">
            <a:spLocks noChangeArrowheads="1"/>
          </p:cNvSpPr>
          <p:nvPr/>
        </p:nvSpPr>
        <p:spPr bwMode="auto">
          <a:xfrm>
            <a:off x="1066800" y="3015513"/>
            <a:ext cx="7239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en-US"/>
            </a:defPPr>
            <a:lvl1pPr algn="ctr" eaLnBrk="0" hangingPunct="0">
              <a:defRPr sz="3000" b="1">
                <a:solidFill>
                  <a:schemeClr val="accent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eaLnBrk="0" hangingPunct="0">
              <a:defRPr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cs typeface="Arial" panose="020B0604020202020204" pitchFamily="34" charset="0"/>
              </a:defRPr>
            </a:lvl9pPr>
          </a:lstStyle>
          <a:p>
            <a:r>
              <a:rPr lang="en-US" altLang="en-US" dirty="0"/>
              <a:t>NGHIỆP VỤ MARGIN TÀI KHOẢN</a:t>
            </a:r>
          </a:p>
        </p:txBody>
      </p:sp>
      <p:sp>
        <p:nvSpPr>
          <p:cNvPr id="2053" name="Rectangle 2083"/>
          <p:cNvSpPr>
            <a:spLocks noChangeArrowheads="1"/>
          </p:cNvSpPr>
          <p:nvPr/>
        </p:nvSpPr>
        <p:spPr bwMode="auto">
          <a:xfrm>
            <a:off x="0" y="2998788"/>
            <a:ext cx="1841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vi-VN" altLang="en-US">
              <a:latin typeface="Tahoma" pitchFamily="34" charset="0"/>
              <a:cs typeface="Tahoma" pitchFamily="34" charset="0"/>
            </a:endParaRPr>
          </a:p>
        </p:txBody>
      </p:sp>
      <p:sp>
        <p:nvSpPr>
          <p:cNvPr id="7" name="Text Box 2084"/>
          <p:cNvSpPr txBox="1">
            <a:spLocks noChangeArrowheads="1"/>
          </p:cNvSpPr>
          <p:nvPr/>
        </p:nvSpPr>
        <p:spPr bwMode="auto">
          <a:xfrm>
            <a:off x="952500" y="4191000"/>
            <a:ext cx="7239000" cy="45720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b="1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Mã</a:t>
            </a:r>
            <a:r>
              <a:rPr lang="en-US" altLang="en-US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b="1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hiệu</a:t>
            </a:r>
            <a:r>
              <a:rPr lang="en-US" altLang="en-US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b="1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dự</a:t>
            </a:r>
            <a:r>
              <a:rPr lang="en-US" altLang="en-US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b="1" dirty="0" err="1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án</a:t>
            </a:r>
            <a:r>
              <a:rPr lang="en-US" altLang="en-US" b="1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Tahoma" pitchFamily="34" charset="0"/>
              </a:rPr>
              <a:t>: FLEX_ROSE</a:t>
            </a:r>
          </a:p>
        </p:txBody>
      </p:sp>
      <p:sp>
        <p:nvSpPr>
          <p:cNvPr id="8" name="Text Box 2067"/>
          <p:cNvSpPr txBox="1">
            <a:spLocks noChangeArrowheads="1"/>
          </p:cNvSpPr>
          <p:nvPr/>
        </p:nvSpPr>
        <p:spPr bwMode="auto">
          <a:xfrm>
            <a:off x="1143000" y="1600200"/>
            <a:ext cx="6858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0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sz="4000" b="1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cs typeface="Tahoma" panose="020B0604030504040204" pitchFamily="34" charset="0"/>
              </a:rPr>
              <a:t>ĐÀO TẠO DỰ ÁN</a:t>
            </a:r>
            <a:r>
              <a:rPr lang="en-US" altLang="en-US" sz="4000" dirty="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4582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Nội dung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219200"/>
            <a:ext cx="8458200" cy="5181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Pool</a:t>
            </a:r>
          </a:p>
          <a:p>
            <a:pPr>
              <a:defRPr/>
            </a:pP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khai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báo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Room</a:t>
            </a:r>
          </a:p>
          <a:p>
            <a:pPr>
              <a:defRPr/>
            </a:pP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Mở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tài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ký</a:t>
            </a:r>
            <a:r>
              <a:rPr lang="en-US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quỹ</a:t>
            </a:r>
            <a:endParaRPr lang="en-US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Giao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dịch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lệnh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sử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dụng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sản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phẩm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ký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quỹ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margin &amp;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ngân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khách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hàng</a:t>
            </a:r>
            <a:endParaRPr lang="en-GB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Quản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lý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margin call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và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Force sell</a:t>
            </a:r>
          </a:p>
          <a:p>
            <a:pPr>
              <a:defRPr/>
            </a:pP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trình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nơ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̣ </a:t>
            </a:r>
          </a:p>
          <a:p>
            <a:pPr>
              <a:defRPr/>
            </a:pP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hạn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món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vay</a:t>
            </a:r>
            <a:endParaRPr lang="en-GB" sz="2200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Chức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năng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tiện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ích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chỉnh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tăng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lãi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phí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cộng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dồn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(GD 5502),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Điều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chỉnh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giảmlãi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GB" sz="220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phí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cộng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dồn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chưa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GB" sz="2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(GD </a:t>
            </a:r>
            <a:r>
              <a:rPr lang="en-GB" sz="2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5504)</a:t>
            </a:r>
            <a:endParaRPr lang="en-GB" sz="2200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defRPr/>
            </a:pPr>
            <a:endParaRPr lang="en-GB" dirty="0" smtClean="0">
              <a:solidFill>
                <a:srgbClr val="FF0000"/>
              </a:solidFill>
              <a:latin typeface="Tahoma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dirty="0" smtClean="0">
              <a:latin typeface="Tahoma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Quy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trình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khai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báo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Pool	</a:t>
            </a:r>
            <a:endParaRPr lang="vi-VN" altLang="en-US" dirty="0" smtClean="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4099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695665"/>
              </p:ext>
            </p:extLst>
          </p:nvPr>
        </p:nvGraphicFramePr>
        <p:xfrm>
          <a:off x="381000" y="1295400"/>
          <a:ext cx="8199438" cy="45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Visio" r:id="rId3" imgW="5991343" imgH="2924189" progId="Visio.Drawing.11">
                  <p:embed/>
                </p:oleObj>
              </mc:Choice>
              <mc:Fallback>
                <p:oleObj name="Visio" r:id="rId3" imgW="5991343" imgH="292418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95400"/>
                        <a:ext cx="8199438" cy="455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71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Quy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trình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khai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báo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và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quản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sz="2400" dirty="0" err="1" smtClean="0">
                <a:latin typeface="Tahoma" pitchFamily="34" charset="0"/>
                <a:cs typeface="Tahoma" pitchFamily="34" charset="0"/>
              </a:rPr>
              <a:t>lý</a:t>
            </a:r>
            <a:r>
              <a:rPr lang="en-US" altLang="en-US" sz="2400" dirty="0" smtClean="0">
                <a:latin typeface="Tahoma" pitchFamily="34" charset="0"/>
                <a:cs typeface="Tahoma" pitchFamily="34" charset="0"/>
              </a:rPr>
              <a:t> Room</a:t>
            </a:r>
            <a:endParaRPr lang="vi-VN" altLang="en-US" sz="2400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-230188"/>
            <a:ext cx="184150" cy="46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vi-VN" altLang="en-US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5124" name="Đối tượng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048571"/>
              </p:ext>
            </p:extLst>
          </p:nvPr>
        </p:nvGraphicFramePr>
        <p:xfrm>
          <a:off x="457200" y="838200"/>
          <a:ext cx="8170863" cy="469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Visio" r:id="rId4" imgW="5981633" imgH="3409977" progId="Visio.Drawing.11">
                  <p:embed/>
                </p:oleObj>
              </mc:Choice>
              <mc:Fallback>
                <p:oleObj name="Visio" r:id="rId4" imgW="5981633" imgH="3409977" progId="Visio.Drawing.11">
                  <p:embed/>
                  <p:pic>
                    <p:nvPicPr>
                      <p:cNvPr id="0" name="Đối tượng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838200"/>
                        <a:ext cx="8170863" cy="4691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" name="Hộp_Văn_Bản 2"/>
          <p:cNvSpPr txBox="1">
            <a:spLocks noChangeArrowheads="1"/>
          </p:cNvSpPr>
          <p:nvPr/>
        </p:nvSpPr>
        <p:spPr bwMode="auto">
          <a:xfrm>
            <a:off x="351631" y="5529263"/>
            <a:ext cx="844073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charset="0"/>
              </a:defRPr>
            </a:lvl9pPr>
          </a:lstStyle>
          <a:p>
            <a:pPr eaLnBrk="1" hangingPunct="1">
              <a:buFontTx/>
              <a:buChar char="-"/>
            </a:pPr>
            <a:r>
              <a:rPr lang="vi-VN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Room CK theo quy định UB được tính theo công thức = Min[SL niêm yết * 5%, Dư nợ tối đa của 1 mã CK/Giá vay UB/Tỉ lệ vay UB</a:t>
            </a:r>
            <a:r>
              <a:rPr lang="vi-VN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]</a:t>
            </a:r>
            <a:endParaRPr lang="en-US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Tx/>
              <a:buChar char="-"/>
            </a:pP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Giá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trị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cho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vay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tối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đa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của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1tài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khoản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/1 </a:t>
            </a:r>
            <a:r>
              <a:rPr lang="en-US" sz="1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 bwMode="auto">
          <a:xfrm>
            <a:off x="1828800" y="152400"/>
            <a:ext cx="6324600" cy="579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Mở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tài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khoản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giao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dịch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ký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quỹ</a:t>
            </a:r>
            <a:endParaRPr lang="vi-VN" altLang="en-US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6147" name="Title 1"/>
          <p:cNvSpPr>
            <a:spLocks noGrp="1"/>
          </p:cNvSpPr>
          <p:nvPr>
            <p:ph idx="1"/>
          </p:nvPr>
        </p:nvSpPr>
        <p:spPr bwMode="auto">
          <a:xfrm>
            <a:off x="457200" y="838200"/>
            <a:ext cx="8229600" cy="5287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itchFamily="2" charset="2"/>
              <a:buNone/>
            </a:pPr>
            <a:endParaRPr lang="en-US" altLang="en-US" smtClean="0"/>
          </a:p>
          <a:p>
            <a:pPr marL="0" indent="0">
              <a:buFont typeface="Wingdings" pitchFamily="2" charset="2"/>
              <a:buNone/>
            </a:pPr>
            <a:endParaRPr lang="vi-VN" altLang="en-US" smtClean="0"/>
          </a:p>
        </p:txBody>
      </p:sp>
      <p:pic>
        <p:nvPicPr>
          <p:cNvPr id="614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160463"/>
            <a:ext cx="7710488" cy="4249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 bwMode="auto">
          <a:xfrm>
            <a:off x="1600200" y="258763"/>
            <a:ext cx="6324600" cy="5794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Quản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lý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hạn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mức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vay</a:t>
            </a:r>
            <a:endParaRPr lang="vi-VN" altLang="en-US" dirty="0" smtClean="0">
              <a:latin typeface="Tahoma" pitchFamily="34" charset="0"/>
              <a:cs typeface="Tahoma" pitchFamily="34" charset="0"/>
            </a:endParaRPr>
          </a:p>
        </p:txBody>
      </p:sp>
      <p:graphicFrame>
        <p:nvGraphicFramePr>
          <p:cNvPr id="7171" name="Đối tượng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10730"/>
              </p:ext>
            </p:extLst>
          </p:nvPr>
        </p:nvGraphicFramePr>
        <p:xfrm>
          <a:off x="152400" y="1066800"/>
          <a:ext cx="8615363" cy="459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Visio" r:id="rId3" imgW="7724657" imgH="3714744" progId="Visio.Drawing.11">
                  <p:embed/>
                </p:oleObj>
              </mc:Choice>
              <mc:Fallback>
                <p:oleObj name="Visio" r:id="rId3" imgW="7724657" imgH="3714744" progId="Visio.Drawing.11">
                  <p:embed/>
                  <p:pic>
                    <p:nvPicPr>
                      <p:cNvPr id="0" name="Đối tượng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066800"/>
                        <a:ext cx="8615363" cy="4598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1676400"/>
            <a:ext cx="8229600" cy="5410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itchFamily="2" charset="2"/>
              <a:buNone/>
            </a:pPr>
            <a:endParaRPr lang="en-US" altLang="en-US" dirty="0" smtClean="0">
              <a:latin typeface="Tahoma" pitchFamily="34" charset="0"/>
              <a:cs typeface="Tahoma" pitchFamily="34" charset="0"/>
            </a:endParaRPr>
          </a:p>
          <a:p>
            <a:pPr marL="0" indent="0">
              <a:buFont typeface="Wingdings" pitchFamily="2" charset="2"/>
              <a:buNone/>
            </a:pPr>
            <a:endParaRPr lang="vi-VN" altLang="en-US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8195" name="Title 1"/>
          <p:cNvSpPr>
            <a:spLocks noGrp="1"/>
          </p:cNvSpPr>
          <p:nvPr>
            <p:ph type="title"/>
          </p:nvPr>
        </p:nvSpPr>
        <p:spPr bwMode="auto">
          <a:xfrm>
            <a:off x="1295400" y="228600"/>
            <a:ext cx="7162800" cy="762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Giao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dịch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lệnh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sử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dụng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sản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phẩm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ký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quỹ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margin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và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giải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ngân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cho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khách</a:t>
            </a:r>
            <a:r>
              <a:rPr lang="en-GB" altLang="en-US" sz="20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000" dirty="0" err="1" smtClean="0">
                <a:latin typeface="Tahoma" pitchFamily="34" charset="0"/>
                <a:cs typeface="Tahoma" pitchFamily="34" charset="0"/>
              </a:rPr>
              <a:t>hàng</a:t>
            </a:r>
            <a:endParaRPr lang="vi-VN" altLang="en-US" sz="2000" dirty="0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819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295400"/>
            <a:ext cx="7516813" cy="4624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ình chữ nhật 1"/>
          <p:cNvSpPr/>
          <p:nvPr/>
        </p:nvSpPr>
        <p:spPr>
          <a:xfrm>
            <a:off x="1419225" y="3373438"/>
            <a:ext cx="2209800" cy="2778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sz="1000" b="1" dirty="0">
              <a:solidFill>
                <a:srgbClr val="FF0000"/>
              </a:solidFill>
              <a:latin typeface="+mj-lt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 bwMode="auto">
          <a:xfrm>
            <a:off x="457200" y="990600"/>
            <a:ext cx="8229600" cy="51355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itchFamily="2" charset="2"/>
              <a:buNone/>
            </a:pPr>
            <a:endParaRPr lang="en-US" altLang="en-US" dirty="0" smtClean="0"/>
          </a:p>
          <a:p>
            <a:pPr marL="0" indent="0">
              <a:buFont typeface="Wingdings" pitchFamily="2" charset="2"/>
              <a:buNone/>
            </a:pPr>
            <a:endParaRPr lang="vi-VN" altLang="en-US" dirty="0" smtClean="0"/>
          </a:p>
        </p:txBody>
      </p:sp>
      <p:sp>
        <p:nvSpPr>
          <p:cNvPr id="10243" name="Title 1"/>
          <p:cNvSpPr>
            <a:spLocks noGrp="1"/>
          </p:cNvSpPr>
          <p:nvPr>
            <p:ph type="title"/>
          </p:nvPr>
        </p:nvSpPr>
        <p:spPr bwMode="auto">
          <a:xfrm>
            <a:off x="1828800" y="152400"/>
            <a:ext cx="6324600" cy="5794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/>
            <a:r>
              <a:rPr lang="en-GB" altLang="en-US" sz="2800" dirty="0" err="1" smtClean="0">
                <a:latin typeface="Tahoma" pitchFamily="34" charset="0"/>
                <a:cs typeface="Tahoma" pitchFamily="34" charset="0"/>
              </a:rPr>
              <a:t>Quản</a:t>
            </a:r>
            <a:r>
              <a:rPr lang="en-GB" altLang="en-US" sz="2800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GB" altLang="en-US" sz="2800" dirty="0" err="1" smtClean="0">
                <a:latin typeface="Tahoma" pitchFamily="34" charset="0"/>
                <a:cs typeface="Tahoma" pitchFamily="34" charset="0"/>
              </a:rPr>
              <a:t>lý</a:t>
            </a:r>
            <a:r>
              <a:rPr lang="en-GB" altLang="en-US" sz="2800" dirty="0" smtClean="0">
                <a:latin typeface="Tahoma" pitchFamily="34" charset="0"/>
                <a:cs typeface="Tahoma" pitchFamily="34" charset="0"/>
              </a:rPr>
              <a:t> margin call </a:t>
            </a:r>
            <a:r>
              <a:rPr lang="en-GB" altLang="en-US" sz="2800" dirty="0" err="1" smtClean="0">
                <a:latin typeface="Tahoma" pitchFamily="34" charset="0"/>
                <a:cs typeface="Tahoma" pitchFamily="34" charset="0"/>
              </a:rPr>
              <a:t>và</a:t>
            </a:r>
            <a:r>
              <a:rPr lang="en-GB" altLang="en-US" sz="2800" dirty="0" smtClean="0">
                <a:latin typeface="Tahoma" pitchFamily="34" charset="0"/>
                <a:cs typeface="Tahoma" pitchFamily="34" charset="0"/>
              </a:rPr>
              <a:t> Force sell</a:t>
            </a:r>
            <a:endParaRPr lang="en-US" altLang="en-US" sz="2800" dirty="0" smtClean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066800"/>
            <a:ext cx="6392138" cy="53739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êu đề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vi-VN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1267" name="Đối tượng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2511517"/>
              </p:ext>
            </p:extLst>
          </p:nvPr>
        </p:nvGraphicFramePr>
        <p:xfrm>
          <a:off x="109538" y="1371600"/>
          <a:ext cx="8778875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0" name="Visio" r:id="rId3" imgW="6400568" imgH="2527118" progId="Visio.Drawing.11">
                  <p:embed/>
                </p:oleObj>
              </mc:Choice>
              <mc:Fallback>
                <p:oleObj name="Visio" r:id="rId3" imgW="6400568" imgH="2527118" progId="Visio.Drawing.11">
                  <p:embed/>
                  <p:pic>
                    <p:nvPicPr>
                      <p:cNvPr id="0" name="Đối tượng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8" y="1371600"/>
                        <a:ext cx="8778875" cy="342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êu đề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endParaRPr lang="vi-VN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291" name="Đối tượng 4"/>
          <p:cNvGraphicFramePr>
            <a:graphicFrameLocks noChangeAspect="1"/>
          </p:cNvGraphicFramePr>
          <p:nvPr/>
        </p:nvGraphicFramePr>
        <p:xfrm>
          <a:off x="533400" y="1295400"/>
          <a:ext cx="8221663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Visio" r:id="rId3" imgW="6181039" imgH="2465222" progId="Visio.Drawing.11">
                  <p:embed/>
                </p:oleObj>
              </mc:Choice>
              <mc:Fallback>
                <p:oleObj name="Visio" r:id="rId3" imgW="6181039" imgH="2465222" progId="Visio.Drawing.11">
                  <p:embed/>
                  <p:pic>
                    <p:nvPicPr>
                      <p:cNvPr id="0" name="Đối tượng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295400"/>
                        <a:ext cx="8221663" cy="327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êu đề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Quy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trình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trả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nợ</a:t>
            </a:r>
            <a:endParaRPr lang="vi-VN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3315" name="Đối tượng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748033"/>
              </p:ext>
            </p:extLst>
          </p:nvPr>
        </p:nvGraphicFramePr>
        <p:xfrm>
          <a:off x="685800" y="1141413"/>
          <a:ext cx="7943850" cy="388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Visio" r:id="rId4" imgW="5023600" imgH="2501205" progId="Visio.Drawing.11">
                  <p:embed/>
                </p:oleObj>
              </mc:Choice>
              <mc:Fallback>
                <p:oleObj name="Visio" r:id="rId4" imgW="5023600" imgH="2501205" progId="Visio.Drawing.11">
                  <p:embed/>
                  <p:pic>
                    <p:nvPicPr>
                      <p:cNvPr id="0" name="Đối tượng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141413"/>
                        <a:ext cx="7943850" cy="3883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êu đề 1"/>
          <p:cNvSpPr>
            <a:spLocks noGrp="1"/>
          </p:cNvSpPr>
          <p:nvPr>
            <p:ph type="title"/>
          </p:nvPr>
        </p:nvSpPr>
        <p:spPr bwMode="auto">
          <a:xfrm>
            <a:off x="304800" y="152400"/>
            <a:ext cx="82296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món</a:t>
            </a:r>
            <a:r>
              <a:rPr lang="en-US" altLang="en-US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vay</a:t>
            </a:r>
            <a:endParaRPr lang="vi-VN" altLang="en-US" dirty="0" smtClean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339" name="Đối tượng 3"/>
          <p:cNvGraphicFramePr>
            <a:graphicFrameLocks noChangeAspect="1"/>
          </p:cNvGraphicFramePr>
          <p:nvPr/>
        </p:nvGraphicFramePr>
        <p:xfrm>
          <a:off x="381000" y="1219200"/>
          <a:ext cx="8582025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1" name="Visio" r:id="rId3" imgW="6193231" imgH="2418893" progId="Visio.Drawing.11">
                  <p:embed/>
                </p:oleObj>
              </mc:Choice>
              <mc:Fallback>
                <p:oleObj name="Visio" r:id="rId3" imgW="6193231" imgH="2418893" progId="Visio.Drawing.11">
                  <p:embed/>
                  <p:pic>
                    <p:nvPicPr>
                      <p:cNvPr id="0" name="Đối tượng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219200"/>
                        <a:ext cx="8582025" cy="335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êu đề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Gia</a:t>
            </a:r>
            <a:r>
              <a:rPr lang="en-US" altLang="en-US" dirty="0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hạn</a:t>
            </a:r>
            <a:r>
              <a:rPr lang="en-US" altLang="en-US" dirty="0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món</a:t>
            </a:r>
            <a:r>
              <a:rPr lang="en-US" altLang="en-US" dirty="0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ea typeface="Tahoma" panose="020B0604030504040204" pitchFamily="34" charset="0"/>
                <a:cs typeface="Tahoma" panose="020B0604030504040204" pitchFamily="34" charset="0"/>
              </a:rPr>
              <a:t>vay</a:t>
            </a:r>
            <a:endParaRPr lang="vi-VN" altLang="en-US" dirty="0" smtClean="0">
              <a:latin typeface="Tahoma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5363" name="Đối tượng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0782516"/>
              </p:ext>
            </p:extLst>
          </p:nvPr>
        </p:nvGraphicFramePr>
        <p:xfrm>
          <a:off x="352425" y="1295400"/>
          <a:ext cx="8258175" cy="30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Visio" r:id="rId3" imgW="6465624" imgH="1919228" progId="Visio.Drawing.11">
                  <p:embed/>
                </p:oleObj>
              </mc:Choice>
              <mc:Fallback>
                <p:oleObj name="Visio" r:id="rId3" imgW="6465624" imgH="1919228" progId="Visio.Drawing.11">
                  <p:embed/>
                  <p:pic>
                    <p:nvPicPr>
                      <p:cNvPr id="0" name="Đối tượng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" y="1295400"/>
                        <a:ext cx="8258175" cy="30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êu đề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Một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số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chức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năng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tiện</a:t>
            </a:r>
            <a:r>
              <a:rPr lang="en-US" alt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altLang="en-US" dirty="0" err="1" smtClean="0">
                <a:latin typeface="Tahoma" pitchFamily="34" charset="0"/>
                <a:cs typeface="Tahoma" pitchFamily="34" charset="0"/>
              </a:rPr>
              <a:t>ích</a:t>
            </a:r>
            <a:endParaRPr lang="vi-VN" altLang="en-US" dirty="0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3" name="Chỗ dành sẵn cho Nội dung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latin typeface="Tahoma" pitchFamily="34" charset="0"/>
                <a:cs typeface="Tahoma" pitchFamily="34" charset="0"/>
              </a:rPr>
              <a:t>Điều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chỉnh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tăng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lãi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/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phí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cộng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dồn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chưa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trả</a:t>
            </a:r>
            <a:r>
              <a:rPr lang="en-US" dirty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(GD 5502)</a:t>
            </a:r>
          </a:p>
          <a:p>
            <a:pPr>
              <a:defRPr/>
            </a:pPr>
            <a:r>
              <a:rPr lang="en-US" dirty="0" err="1" smtClean="0">
                <a:latin typeface="Tahoma" pitchFamily="34" charset="0"/>
                <a:cs typeface="Tahoma" pitchFamily="34" charset="0"/>
              </a:rPr>
              <a:t>Điều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chỉnh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thông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tin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hợp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đồng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 smtClean="0">
                <a:latin typeface="Tahoma" pitchFamily="34" charset="0"/>
                <a:cs typeface="Tahoma" pitchFamily="34" charset="0"/>
              </a:rPr>
              <a:t>vay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(GD 5504)</a:t>
            </a:r>
          </a:p>
          <a:p>
            <a:pPr>
              <a:defRPr/>
            </a:pPr>
            <a:r>
              <a:rPr lang="en-US" dirty="0" err="1" smtClean="0">
                <a:latin typeface="Tahoma" pitchFamily="34" charset="0"/>
                <a:cs typeface="Tahoma" pitchFamily="34" charset="0"/>
              </a:rPr>
              <a:t>Gia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 </a:t>
            </a:r>
            <a:r>
              <a:rPr lang="en-US" dirty="0" err="1">
                <a:latin typeface="Tahoma" pitchFamily="34" charset="0"/>
                <a:cs typeface="Tahoma" pitchFamily="34" charset="0"/>
              </a:rPr>
              <a:t>hạn</a:t>
            </a:r>
            <a:r>
              <a:rPr lang="en-US" dirty="0">
                <a:latin typeface="Tahoma" pitchFamily="34" charset="0"/>
                <a:cs typeface="Tahoma" pitchFamily="34" charset="0"/>
              </a:rPr>
              <a:t> deal Margin (GD 5574</a:t>
            </a:r>
            <a:r>
              <a:rPr lang="en-US" dirty="0" smtClean="0">
                <a:latin typeface="Tahoma" pitchFamily="34" charset="0"/>
                <a:cs typeface="Tahoma" pitchFamily="34" charset="0"/>
              </a:rPr>
              <a:t>)</a:t>
            </a:r>
            <a:endParaRPr lang="en-US" dirty="0" smtClean="0"/>
          </a:p>
          <a:p>
            <a:pPr marL="0" indent="0">
              <a:buFont typeface="Wingdings" pitchFamily="2" charset="2"/>
              <a:buNone/>
              <a:defRPr/>
            </a:pPr>
            <a:endParaRPr lang="en-US" dirty="0" smtClean="0">
              <a:latin typeface="Tahoma" pitchFamily="34" charset="0"/>
              <a:cs typeface="Tahoma" pitchFamily="34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vi-V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4C7013"/>
      </a:dk2>
      <a:lt2>
        <a:srgbClr val="0061B2"/>
      </a:lt2>
      <a:accent1>
        <a:srgbClr val="FEA501"/>
      </a:accent1>
      <a:accent2>
        <a:srgbClr val="C8A058"/>
      </a:accent2>
      <a:accent3>
        <a:srgbClr val="FFFFFF"/>
      </a:accent3>
      <a:accent4>
        <a:srgbClr val="000000"/>
      </a:accent4>
      <a:accent5>
        <a:srgbClr val="FECFAA"/>
      </a:accent5>
      <a:accent6>
        <a:srgbClr val="B5914F"/>
      </a:accent6>
      <a:hlink>
        <a:srgbClr val="C40505"/>
      </a:hlink>
      <a:folHlink>
        <a:srgbClr val="919191"/>
      </a:folHlink>
    </a:clrScheme>
    <a:fontScheme name="Standard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andarddesign 1">
        <a:dk1>
          <a:srgbClr val="000000"/>
        </a:dk1>
        <a:lt1>
          <a:srgbClr val="FFFFFF"/>
        </a:lt1>
        <a:dk2>
          <a:srgbClr val="4C7013"/>
        </a:dk2>
        <a:lt2>
          <a:srgbClr val="0061B2"/>
        </a:lt2>
        <a:accent1>
          <a:srgbClr val="FEA501"/>
        </a:accent1>
        <a:accent2>
          <a:srgbClr val="C8A058"/>
        </a:accent2>
        <a:accent3>
          <a:srgbClr val="FFFFFF"/>
        </a:accent3>
        <a:accent4>
          <a:srgbClr val="000000"/>
        </a:accent4>
        <a:accent5>
          <a:srgbClr val="FECFAA"/>
        </a:accent5>
        <a:accent6>
          <a:srgbClr val="B5914F"/>
        </a:accent6>
        <a:hlink>
          <a:srgbClr val="C40505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3691515</TotalTime>
  <Words>243</Words>
  <Application>Microsoft Office PowerPoint</Application>
  <PresentationFormat>On-screen Show (4:3)</PresentationFormat>
  <Paragraphs>33</Paragraphs>
  <Slides>14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Tahoma</vt:lpstr>
      <vt:lpstr>Times New Roman</vt:lpstr>
      <vt:lpstr>Wingdings</vt:lpstr>
      <vt:lpstr>Standarddesign</vt:lpstr>
      <vt:lpstr>Visio</vt:lpstr>
      <vt:lpstr>PowerPoint Presentation</vt:lpstr>
      <vt:lpstr>Nội dung</vt:lpstr>
      <vt:lpstr>Quy trình khai báo Pool </vt:lpstr>
      <vt:lpstr> Quy trình khai báo và quản lý Room</vt:lpstr>
      <vt:lpstr>Mở tài khoản giao dịch ký quỹ</vt:lpstr>
      <vt:lpstr>Quản lý hạn mức vay</vt:lpstr>
      <vt:lpstr>Giao dịch lệnh sử dụng sản phẩm ký quỹ margin và giải ngân cho khách hàng</vt:lpstr>
      <vt:lpstr>Quản lý margin call và Force sell</vt:lpstr>
      <vt:lpstr>Quy trình trả nợ </vt:lpstr>
      <vt:lpstr>Quy trình trả nợ</vt:lpstr>
      <vt:lpstr>Quy trình trả nợ</vt:lpstr>
      <vt:lpstr>Gia hạn món vay</vt:lpstr>
      <vt:lpstr>Gia hạn món vay</vt:lpstr>
      <vt:lpstr>Một số chức năng tiện ích</vt:lpstr>
    </vt:vector>
  </TitlesOfParts>
  <Company>FPT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tóm tắt  CÔNG TY CỔ PHẦN PHÁT TRIỂN  ĐẦU TƯ CÔNG NGHỆ - FPT  TRUNG TÂM GIẢI PHÁP PHẦN MỀM  FPT SOFTWARE SOLUTIONS</dc:title>
  <dc:creator>Dao Duc Quan</dc:creator>
  <cp:lastModifiedBy>Administrator</cp:lastModifiedBy>
  <cp:revision>699</cp:revision>
  <dcterms:created xsi:type="dcterms:W3CDTF">1996-01-21T08:13:22Z</dcterms:created>
  <dcterms:modified xsi:type="dcterms:W3CDTF">2018-11-05T04:53:40Z</dcterms:modified>
</cp:coreProperties>
</file>